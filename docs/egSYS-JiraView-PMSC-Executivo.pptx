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EGSYS &amp; PMSC  /  RELATÓRIO EXECUTIVO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Painel do Cliente PMSC: Visibilidade, Métricas e Jornada do Chamado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Superando o portal legado do Jira: trilha da jornada em 8 etapas, gráficos de observabilidade e filtros salvos para a PMSC.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0817352" cy="1234440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35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/>
            <a:r>
              <a:rPr sz="1700" b="1">
                <a:solidFill>
                  <a:srgbClr val="C8FF4A"/>
                </a:solidFill>
                <a:latin typeface="Aptos Display"/>
              </a:rPr>
              <a:t>⚡ BACKLOG ATIVO: 25 CHAMADOS   •   📊 OBSERVABILIDADE VISUAL TOTAL   •   🛡️ ESTEIRA COM POSSE DA BOLA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DB0C7"/>
                </a:solidFill>
                <a:latin typeface="Aptos"/>
              </a:rPr>
              <a:t>Ambiente exclusivo homologado para a gestão da PMSC (João Mário Mazzola, Ilclemar Vieira, Alex Sandro e Cap Thiesen).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10817352" cy="24688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/>
            <a:r>
              <a:rPr sz="1200" b="1">
                <a:solidFill>
                  <a:srgbClr val="35D0FF"/>
                </a:solidFill>
                <a:latin typeface="Aptos"/>
              </a:rPr>
              <a:t>O SALTO DE TRANSPARÊNCIA E FUNCIONALIDADES FRENTE AO JIRA LEGADO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Trilha Visual da Jornada PMSC: </a:t>
            </a:r>
            <a:r>
              <a:rPr sz="1050">
                <a:solidFill>
                  <a:srgbClr val="9DB0C7"/>
                </a:solidFill>
                <a:latin typeface="Aptos"/>
              </a:rPr>
              <a:t>O chamado deixa de ser um rótulo estático. O gestor visualiza em 1 clique em qual das 8 etapas a demanda se encontra e há quantos dias está na fase.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Dashboard Gráfico das 4 Frentes Policiais: </a:t>
            </a:r>
            <a:r>
              <a:rPr sz="1050">
                <a:solidFill>
                  <a:srgbClr val="9DB0C7"/>
                </a:solidFill>
                <a:latin typeface="Aptos"/>
              </a:rPr>
              <a:t>Gráficos de status, prioridade e tendência nas áreas Cidadão (190/Mobile), SADE (CAD), Integração e Operações.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Filtros Salvos pelo Gestor da PM: </a:t>
            </a:r>
            <a:r>
              <a:rPr sz="1050">
                <a:solidFill>
                  <a:srgbClr val="9DB0C7"/>
                </a:solidFill>
                <a:latin typeface="Aptos"/>
              </a:rPr>
              <a:t>Possibilidade de criar e salvar listagens personalizadas no perfil do usuário (/filtros) para pautas de reuniões, ausente no Jira legado.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F5F8FC"/>
                </a:solidFill>
                <a:latin typeface="Aptos"/>
              </a:rPr>
              <a:t>• Síntese Matemática Incontestável: </a:t>
            </a:r>
            <a:r>
              <a:rPr sz="1050">
                <a:solidFill>
                  <a:srgbClr val="9DB0C7"/>
                </a:solidFill>
                <a:latin typeface="Aptos"/>
              </a:rPr>
              <a:t>Decomposição exata de 25 chamados ativos (0 Novas + 24 Em Atendimento egSYS + 1 Aguardando Validação PMSC), isolando 25 entregas finalizadas no ciclo de 90 dias.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B84D"/>
                </a:solidFill>
                <a:latin typeface="Aptos"/>
              </a:rPr>
              <a:t>ANTES DO NOVO PAINEL  /  LIMITAÇÕES DO JIRA PADRÃO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portal legado do Jira mantinha a PMSC sem visão do fluxo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Sem gráficos, sem esteira de ação, sem filtros salvos e com a falsa impressão de atrasos generalizados.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VISUALIZAÇÃO DA TRILHA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Status Estático e Opaco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O gestor da PM via apenas um rótulo básico ('Em Andamento'). Impossível saber se a demanda estava em triagem técnica, codificação de software, testes de QA ou aguardando a própria PM.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GRÁFICOS OU DASHBOARDS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Ausência Total de Observabilidade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Nenhum gráfico disponível ao cliente no portal Jira padrão. O gestor recebia uma lista crua em formato de planilha, sem visão de gargalos por área policial e sem divisão por severidade.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SEM FILTROS SALVOS PELO CLIENTE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Zero Personalização de Trabalho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Buscas rudimentares que truncavam dados. O gestor da PMSC não conseguia salvar suas listagens filtradas e tinha que reconstruir filtros manuais em toda reunião.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77639"/>
            <a:ext cx="5239512" cy="16459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1000" b="1">
                <a:solidFill>
                  <a:srgbClr val="FF5C5C"/>
                </a:solidFill>
                <a:latin typeface="Aptos"/>
              </a:rPr>
              <a:t>🔴 A ILUSÃO DOS 77 CHAMADOS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Ambiguidade &amp; Sem Posse da Bola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O portal somava 25 chamados já entregues com os abertos, criando a falsa impressão de 77 pendências sem deixar claro quem detinha a responsabilidade da próxima 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FFB84D"/>
                </a:solidFill>
                <a:latin typeface="Aptos"/>
              </a:rPr>
              <a:t>⚠️ Impacto Anterior: Reuniões tensas de conferência manual de tickets em vez de foco na evolução da tecnologia das viaturas e guarnições.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A SOLUÇÃO  /  NOVO PAINEL EXCLUSIVO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O JiraView entrega à PMSC o controle que o Jira legado não dava.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Dashboards gráficos, trilha da jornada em gaveta lateral e filtros personalizados para a gestão policial.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VISÃO POR ÁREA POLICIAL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Abas Especializadas na PM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🏷️ Cidadão: </a:t>
            </a:r>
            <a:r>
              <a:rPr sz="950">
                <a:solidFill>
                  <a:srgbClr val="9DB0C7"/>
                </a:solidFill>
                <a:latin typeface="Aptos"/>
              </a:rPr>
              <a:t>Aplicativo de viatura mobile e PMSC Cidadão (190).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🏷️ SADE: </a:t>
            </a:r>
            <a:r>
              <a:rPr sz="950">
                <a:solidFill>
                  <a:srgbClr val="9DB0C7"/>
                </a:solidFill>
                <a:latin typeface="Aptos"/>
              </a:rPr>
              <a:t>Despacho operacional CAD, telas de atendimento e servidores.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🏷️ Integração: </a:t>
            </a:r>
            <a:r>
              <a:rPr sz="950">
                <a:solidFill>
                  <a:srgbClr val="9DB0C7"/>
                </a:solidFill>
                <a:latin typeface="Aptos"/>
              </a:rPr>
              <a:t>Barramentos, APIs Detran/SSP e webservices externos.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🏷️ Operações: </a:t>
            </a:r>
            <a:r>
              <a:rPr sz="950">
                <a:solidFill>
                  <a:srgbClr val="9DB0C7"/>
                </a:solidFill>
                <a:latin typeface="Aptos"/>
              </a:rPr>
              <a:t>Programação operacional, escalas e ferramentas de apoio.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FILTROS SALVOS &amp; JQL VISUAL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Módulo de Personalização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Filtros Salvos pelo Gestor: </a:t>
            </a:r>
            <a:r>
              <a:rPr sz="950">
                <a:solidFill>
                  <a:srgbClr val="9DB0C7"/>
                </a:solidFill>
                <a:latin typeface="Aptos"/>
              </a:rPr>
              <a:t>Módulo (/filtros) para salvar e reusar visões em 1 clique.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Construtor Visual de Filtros: </a:t>
            </a:r>
            <a:r>
              <a:rPr sz="950">
                <a:solidFill>
                  <a:srgbClr val="9DB0C7"/>
                </a:solidFill>
                <a:latin typeface="Aptos"/>
              </a:rPr>
              <a:t>Filtre por campo, operador e valor sem decorar sintaxe.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Janelas Temporais: </a:t>
            </a:r>
            <a:r>
              <a:rPr sz="950">
                <a:solidFill>
                  <a:srgbClr val="9DB0C7"/>
                </a:solidFill>
                <a:latin typeface="Aptos"/>
              </a:rPr>
              <a:t>Filtros executivos em 90d (padrão), 6m, 12m e ano corrente.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Exportação (#: 1 a N): </a:t>
            </a:r>
            <a:r>
              <a:rPr sz="950">
                <a:solidFill>
                  <a:srgbClr val="9DB0C7"/>
                </a:solidFill>
                <a:latin typeface="Aptos"/>
              </a:rPr>
              <a:t>Download imediato em Excel (.xlsx), Markdown e 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2057400"/>
            <a:ext cx="3429000" cy="36576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TRILHA &amp; OBSERVABILIDADE</a:t>
            </a:r>
          </a:p>
          <a:p>
            <a:pPr>
              <a:spcBef>
                <a:spcPts val="300"/>
              </a:spcBef>
            </a:pPr>
            <a:r>
              <a:rPr sz="1350" b="1">
                <a:solidFill>
                  <a:srgbClr val="F5F8FC"/>
                </a:solidFill>
                <a:latin typeface="Aptos Display"/>
              </a:rPr>
              <a:t>Gaveta Lateral (Drawer)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Trilha da Jornada: </a:t>
            </a:r>
            <a:r>
              <a:rPr sz="950">
                <a:solidFill>
                  <a:srgbClr val="9DB0C7"/>
                </a:solidFill>
                <a:latin typeface="Aptos"/>
              </a:rPr>
              <a:t>Esteira de 8 etapas exibida em 1 clique sem reload de tela.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Cálculo de Tempo por Fase: </a:t>
            </a:r>
            <a:r>
              <a:rPr sz="950">
                <a:solidFill>
                  <a:srgbClr val="9DB0C7"/>
                </a:solidFill>
                <a:latin typeface="Aptos"/>
              </a:rPr>
              <a:t>Veja quantos dias o chamado permaneceu em cada etapa.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Indicador de Posse da Bola: </a:t>
            </a:r>
            <a:r>
              <a:rPr sz="950">
                <a:solidFill>
                  <a:srgbClr val="9DB0C7"/>
                </a:solidFill>
                <a:latin typeface="Aptos"/>
              </a:rPr>
              <a:t>Clareza se a ação é da egSYS ou da equipe da PMSC.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F5F8FC"/>
                </a:solidFill>
                <a:latin typeface="Aptos"/>
              </a:rPr>
              <a:t>• Links 1-Click ao Jira: </a:t>
            </a:r>
            <a:r>
              <a:rPr sz="950">
                <a:solidFill>
                  <a:srgbClr val="9DB0C7"/>
                </a:solidFill>
                <a:latin typeface="Aptos"/>
              </a:rPr>
              <a:t>Abertura direta do chamado oficial em nova aba.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833872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C8FF4A"/>
                </a:solidFill>
                <a:latin typeface="Aptos"/>
              </a:rPr>
              <a:t>🎯 Resultado: O gestor da PMSC obtém a resposta exata sobre qualquer demanda em menos de 3 segundos.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C8FF4A"/>
                </a:solidFill>
                <a:latin typeface="Aptos"/>
              </a:rPr>
              <a:t>MÉTRICAS ATIVAS  /  CARTEIRA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A decomposição exata da carteira ativa da PMSC: 25 chamados.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Apresentação aritmética auditada eliminando qualquer divergência entre a PMSC e a equipe técnica da egSYS.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25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TOTAL DO BACKLOG ATIVO PMSC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Somatório real e auditado de todas as solicitações ativas no ciclo contratual de 90 dias.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0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NOVAS SOLICITAÇÕES EM TRIAGEM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Todas as demandas encaminhadas para atendimento técnico e engenharia de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24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EM ATENDIMENTO TÉCNICO &amp; ENGENHARIA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Chamados em análise profunda, codificação ativa e testes de qualidade pela engenharia egSYS.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239512" cy="17373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ctr"/>
            <a:r>
              <a:rPr sz="3800" b="1">
                <a:solidFill>
                  <a:srgbClr val="C8FF4A"/>
                </a:solidFill>
                <a:latin typeface="Aptos Display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35D0FF"/>
                </a:solidFill>
                <a:latin typeface="Aptos"/>
              </a:rPr>
              <a:t>AGUARDANDO VALIDAÇÃO DA PMSC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DB0C7"/>
                </a:solidFill>
                <a:latin typeface="Aptos"/>
              </a:rPr>
              <a:t>Demanda entregue em homologação aguardando aceite formal pela equipe da PM.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33872"/>
            <a:ext cx="10817352" cy="438912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C8FF4A"/>
                </a:solidFill>
                <a:latin typeface="Aptos"/>
              </a:rPr>
              <a:t>📈 Isolamento do Histórico: 25 chamados já foram entregues com sucesso no ciclo de 90 dias e permanecem catalogados para fins de auditoria.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AUDITORIA DE INDICADORES  /  EVIDÊNCIAS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Raio-X da base PMSC: lastro técnico e rastreabilidade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Como cada número e status da PMSC é auditado em tempo real com base nos registros do Jira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⚡ BACKLOG ATIVO PMSC (25 CHAMADOS EM ABERTO)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Demandas ativas do projeto HDPMSC no ciclo de 90 dias.  |  EVIDÊNCIA: 24 em Atendimento Técnico egSYS + 1 Aguardando Validação da PMSC. 25 entregas segregadas no histórico (total 50).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🎯 AGUARDANDO VALIDAÇÃO PMSC (1 CHAMADO - POSSE DA BOLA PMSC)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Demanda concluída pela egSYS em ambiente de testes da PMSC.  |  EVIDÊNCIA: Status 'Homologação Cliente'; ação pendente com a equipe técnica da PM.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⚙️ EM TRATAMENTO TÉCNICO EGSYS (24 CHAMADOS - POSSE DA BOLA EGSYS)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Chamados sob responsabilidade direta dos desenvolvedores da egSYS.  |  EVIDÊNCIA: Itens nas fases de Análise de Dev, Em Desenvolvimento e Testes de Qualidade (QA).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37760"/>
            <a:ext cx="10817352" cy="8686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100" b="1">
                <a:solidFill>
                  <a:srgbClr val="C8FF4A"/>
                </a:solidFill>
                <a:latin typeface="Aptos Display"/>
              </a:rPr>
              <a:t>💾 FILTROS TEMPORAIS PRECISOS &amp; EXPORTAÇÃO (# 1 A N)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5F8FC"/>
                </a:solidFill>
                <a:latin typeface="Aptos"/>
              </a:rPr>
              <a:t>ESCOPO: Autonomia de análise por período (30d a 1 ano) e download executivo.  |  EVIDÊNCIA: Seletor temporal calibrado no painel e módulo de exportação em Excel nativo (.xlsx), MD e 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97880"/>
            <a:ext cx="10817352" cy="384048"/>
          </a:xfrm>
          <a:prstGeom prst="roundRect">
            <a:avLst/>
          </a:prstGeom>
          <a:solidFill>
            <a:srgbClr val="132641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050" b="1">
                <a:solidFill>
                  <a:srgbClr val="35D0FF"/>
                </a:solidFill>
                <a:latin typeface="Aptos"/>
              </a:rPr>
              <a:t>🔍 Rigor de Auditoria: Dados extraídos diretamente do projeto oficial HDPMSC e sincronizados em tempo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CATÁLOGO DE MELHORIAS  /  FUNCIONALIDADES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A jornada na esteira de ação e os recursos de observabilidade.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Todas as ferramentas que a PMSC precisava e que o portal padrão do Jira nunca ofereceu.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39512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A TRILHA DO CAMINHO (ESTEIRA DE 8 ETAPAS)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A jornada completa do chamado PMSC com Posse da Bola: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01. Triagem (N1) ➔ </a:t>
            </a:r>
            <a:r>
              <a:rPr sz="900">
                <a:solidFill>
                  <a:srgbClr val="9DB0C7"/>
                </a:solidFill>
                <a:latin typeface="Aptos"/>
              </a:rPr>
              <a:t>Recepção e conferência dos dados da ocorrência.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02. Triagem (N2) ➔ </a:t>
            </a:r>
            <a:r>
              <a:rPr sz="900">
                <a:solidFill>
                  <a:srgbClr val="9DB0C7"/>
                </a:solidFill>
                <a:latin typeface="Aptos"/>
              </a:rPr>
              <a:t>Diagnóstico técnico avançado e reprodução de logs.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03. Análise de Dev ➔ </a:t>
            </a:r>
            <a:r>
              <a:rPr sz="900">
                <a:solidFill>
                  <a:srgbClr val="9DB0C7"/>
                </a:solidFill>
                <a:latin typeface="Aptos"/>
              </a:rPr>
              <a:t>Refinamento de arquitetura pelos engenheiros de software.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04. Em Desenvolvimento ➔ </a:t>
            </a:r>
            <a:r>
              <a:rPr sz="900">
                <a:solidFill>
                  <a:srgbClr val="9DB0C7"/>
                </a:solidFill>
                <a:latin typeface="Aptos"/>
              </a:rPr>
              <a:t>Construção de código e correção de funcionalidades.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05. QA &amp; Testes ➔ </a:t>
            </a:r>
            <a:r>
              <a:rPr sz="900">
                <a:solidFill>
                  <a:srgbClr val="9DB0C7"/>
                </a:solidFill>
                <a:latin typeface="Aptos"/>
              </a:rPr>
              <a:t>Homologação técnica e testes automatizados de qualidade.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06. Validação Interna N1 ➔ </a:t>
            </a:r>
            <a:r>
              <a:rPr sz="900">
                <a:solidFill>
                  <a:srgbClr val="9DB0C7"/>
                </a:solidFill>
                <a:latin typeface="Aptos"/>
              </a:rPr>
              <a:t>Conferência final pelo analista antes da liberação.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07. Homologação PMSC ➔ </a:t>
            </a:r>
            <a:r>
              <a:rPr sz="900">
                <a:solidFill>
                  <a:srgbClr val="9DB0C7"/>
                </a:solidFill>
                <a:latin typeface="Aptos"/>
              </a:rPr>
              <a:t>AÇÃO DA PMSC: Validação e homologação pelo órgão.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08. Concluído ➔ </a:t>
            </a:r>
            <a:r>
              <a:rPr sz="900">
                <a:solidFill>
                  <a:srgbClr val="9DB0C7"/>
                </a:solidFill>
                <a:latin typeface="Aptos"/>
              </a:rPr>
              <a:t>FINALIZADO: Liberação em produção policial e encerramento.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239512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FUNCIONALIDADES EXCLUSIVAS DO PAINEL PMSC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Recursos de observabilidade ausentes no portal legado: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Gaveta Lateral de Diagnóstico (Drawer): </a:t>
            </a:r>
            <a:r>
              <a:rPr sz="900">
                <a:solidFill>
                  <a:srgbClr val="9DB0C7"/>
                </a:solidFill>
                <a:latin typeface="Aptos"/>
              </a:rPr>
              <a:t>Abre em 1 clique sem reload, exibindo a esteira, o tempo exato acumulado em cada etapa e a posse da bola.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Módulo de Filtros Salvos pelo Gestor da PM: </a:t>
            </a:r>
            <a:r>
              <a:rPr sz="900">
                <a:solidFill>
                  <a:srgbClr val="9DB0C7"/>
                </a:solidFill>
                <a:latin typeface="Aptos"/>
              </a:rPr>
              <a:t>Permite criar filtros personalizados e salvá-los no perfil (/filtros) para reuso diário com um clique.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Dashboard com 4 Gráficos Interativos: </a:t>
            </a:r>
            <a:r>
              <a:rPr sz="900">
                <a:solidFill>
                  <a:srgbClr val="9DB0C7"/>
                </a:solidFill>
                <a:latin typeface="Aptos"/>
              </a:rPr>
              <a:t>Gráficos Chart.js (status, prioridade, solicitantes e linha temporal) atualizados em tempo real.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Rastreabilidade de Engenharia (issuelinks): </a:t>
            </a:r>
            <a:r>
              <a:rPr sz="900">
                <a:solidFill>
                  <a:srgbClr val="9DB0C7"/>
                </a:solidFill>
                <a:latin typeface="Aptos"/>
              </a:rPr>
              <a:t>Vínculo visual direto com tarefas de desenvolvimento (PSC) ligadas ao chamado HDPMSC.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Exportação Corporativa (# 1 a N): </a:t>
            </a:r>
            <a:r>
              <a:rPr sz="900">
                <a:solidFill>
                  <a:srgbClr val="9DB0C7"/>
                </a:solidFill>
                <a:latin typeface="Aptos"/>
              </a:rPr>
              <a:t>Download imediato em Excel (.xlsx), Markdown e CSV com índice sequencial (#) para pautas de reunião da PM.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FRENTES DE TECNOLOGIA  /  ÁREAS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Atendimento especializado por área de negócio da Polícia Militar.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Classificação automática de chamados garantindo que cada especialista da PM acompanhe suas demandas.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6858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sz="1300" b="1">
                <a:solidFill>
                  <a:srgbClr val="35D0FF"/>
                </a:solidFill>
                <a:latin typeface="Aptos Display"/>
              </a:rPr>
              <a:t>AS 4 FRENTES ESTRATÉGICAS DE SUSTENTAÇÃO PMSC</a:t>
            </a:r>
          </a:p>
          <a:p>
            <a:r>
              <a:rPr sz="950">
                <a:solidFill>
                  <a:srgbClr val="9DB0C7"/>
                </a:solidFill>
                <a:latin typeface="Aptos"/>
              </a:rPr>
              <a:t>Mapeamento inteligente derivado dos componentes e labels do Jira: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C8FF4A"/>
                </a:solidFill>
                <a:latin typeface="Aptos"/>
              </a:rPr>
              <a:t>🏷️ CIDADÃO (190 &amp; Mobile Policial)
</a:t>
            </a:r>
            <a:r>
              <a:rPr sz="950">
                <a:solidFill>
                  <a:srgbClr val="9DB0C7"/>
                </a:solidFill>
                <a:latin typeface="Aptos"/>
              </a:rPr>
              <a:t>Aplicativo PMSC Cidadão, tablets operacionais embarcados em viaturas, geolocalização e despachos móveis de campo.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C8FF4A"/>
                </a:solidFill>
                <a:latin typeface="Aptos"/>
              </a:rPr>
              <a:t>🏷️ SADE (Sistema de Atendimento e Despacho de Emergência)
</a:t>
            </a:r>
            <a:r>
              <a:rPr sz="950">
                <a:solidFill>
                  <a:srgbClr val="9DB0C7"/>
                </a:solidFill>
                <a:latin typeface="Aptos"/>
              </a:rPr>
              <a:t>Núcleo CAD de atendimento 190, despacho de viaturas em mapa, servidores de aplicação e balanceamento de chamadas.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C8FF4A"/>
                </a:solidFill>
                <a:latin typeface="Aptos"/>
              </a:rPr>
              <a:t>🏷️ INTEGRAÇÃO (APIs &amp; Barramentos)
</a:t>
            </a:r>
            <a:r>
              <a:rPr sz="950">
                <a:solidFill>
                  <a:srgbClr val="9DB0C7"/>
                </a:solidFill>
                <a:latin typeface="Aptos"/>
              </a:rPr>
              <a:t>Barramento de serviços com Detran, SSP/SC, Poder Judiciário, sistemas de boletins de ocorrência e webservices externos.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C8FF4A"/>
                </a:solidFill>
                <a:latin typeface="Aptos"/>
              </a:rPr>
              <a:t>🏷️ OPERAÇÕES (Gestão &amp; Escalas Operacionais)
</a:t>
            </a:r>
            <a:r>
              <a:rPr sz="950">
                <a:solidFill>
                  <a:srgbClr val="9DB0C7"/>
                </a:solidFill>
                <a:latin typeface="Aptos"/>
              </a:rPr>
              <a:t>Programação operacional, módulos de escala de serviço, viaturas, efetivos e relatórios gerenciais da corporação.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2057400"/>
            <a:ext cx="3685032" cy="19659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3200" b="1">
                <a:solidFill>
                  <a:srgbClr val="C8FF4A"/>
                </a:solidFill>
                <a:latin typeface="Aptos Display"/>
              </a:rPr>
              <a:t>≤ 3 seg</a:t>
            </a:r>
          </a:p>
          <a:p>
            <a:r>
              <a:rPr sz="1000" b="1">
                <a:solidFill>
                  <a:srgbClr val="35D0FF"/>
                </a:solidFill>
                <a:latin typeface="Aptos"/>
              </a:rPr>
              <a:t>TEMPO DE DIAGNÓSTICO POR ÁREA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DB0C7"/>
                </a:solidFill>
                <a:latin typeface="Aptos"/>
              </a:rPr>
              <a:t>O gestor clica na aba da sua área (ex: Cidadão ou SADE) e visualiza instantaneamente os chamados abertos e o status de cada 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251960"/>
            <a:ext cx="3685032" cy="19659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3200" b="1">
                <a:solidFill>
                  <a:srgbClr val="C8FF4A"/>
                </a:solidFill>
                <a:latin typeface="Aptos Display"/>
              </a:rPr>
              <a:t>100%</a:t>
            </a:r>
          </a:p>
          <a:p>
            <a:r>
              <a:rPr sz="1000" b="1">
                <a:solidFill>
                  <a:srgbClr val="35D0FF"/>
                </a:solidFill>
                <a:latin typeface="Aptos"/>
              </a:rPr>
              <a:t>COMPATIBILIDADE COM A INTRANET PM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9DB0C7"/>
                </a:solidFill>
                <a:latin typeface="Aptos"/>
              </a:rPr>
              <a:t>Gráficos e bibliotecas vendored localmente sem dependência de internet aberta. Alta estabilidade mesmo sob firewalls rígidos.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35D0FF"/>
                </a:solidFill>
                <a:latin typeface="Aptos"/>
              </a:rPr>
              <a:t>COMPROMISSO CONTÍNUO  /  PRÓXIMOS PASSOS PMSC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9DB0C7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173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F5F8FC"/>
                </a:solidFill>
                <a:latin typeface="Aptos Display"/>
              </a:rPr>
              <a:t>egSYS &amp; PMSC: Parceria estratégica em tecnologia de missão crítica.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>
                <a:solidFill>
                  <a:srgbClr val="F5F8FC"/>
                </a:solidFill>
                <a:latin typeface="Aptos"/>
              </a:rPr>
              <a:t>Alinhamento contínuo para garantir estabilidade, segurança e agilidade nas operações da Polícia Militar.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ENTREGUE À PMSC (v0.4.1)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Transparência Consolidada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Painel Exclusivo PMSC: </a:t>
            </a:r>
            <a:r>
              <a:rPr sz="900">
                <a:solidFill>
                  <a:srgbClr val="9DB0C7"/>
                </a:solidFill>
                <a:latin typeface="Aptos"/>
              </a:rPr>
              <a:t>Acesso seguro via suporte-monitor.egsys.siseg.tech/painel_sc.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Trilha da Jornada em 8 Etapas: </a:t>
            </a:r>
            <a:r>
              <a:rPr sz="900">
                <a:solidFill>
                  <a:srgbClr val="9DB0C7"/>
                </a:solidFill>
                <a:latin typeface="Aptos"/>
              </a:rPr>
              <a:t>Esteira visual com cálculo de tempo por fase e posse da bola.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Dashboards &amp; 4 Gráficos: </a:t>
            </a:r>
            <a:r>
              <a:rPr sz="900">
                <a:solidFill>
                  <a:srgbClr val="9DB0C7"/>
                </a:solidFill>
                <a:latin typeface="Aptos"/>
              </a:rPr>
              <a:t>Gráficos Chart.js responsivos no padrão Dark Glass.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Filtros Salvos pelo Gestor: </a:t>
            </a:r>
            <a:r>
              <a:rPr sz="900">
                <a:solidFill>
                  <a:srgbClr val="9DB0C7"/>
                </a:solidFill>
                <a:latin typeface="Aptos"/>
              </a:rPr>
              <a:t>Módulo CRUD (/filtros) para salvar visões favoritas da PM.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Exportação Corporativa: </a:t>
            </a:r>
            <a:r>
              <a:rPr sz="900">
                <a:solidFill>
                  <a:srgbClr val="9DB0C7"/>
                </a:solidFill>
                <a:latin typeface="Aptos"/>
              </a:rPr>
              <a:t>Relatórios em Excel (.xlsx) numerados sequencialmente (# 1 a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PRÓXIMOS PASSOS CONJUNTOS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Evolução Contínua (2026/2027)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Reuniões Periódicas Ágeis: </a:t>
            </a:r>
            <a:r>
              <a:rPr sz="900">
                <a:solidFill>
                  <a:srgbClr val="9DB0C7"/>
                </a:solidFill>
                <a:latin typeface="Aptos"/>
              </a:rPr>
              <a:t>Uso das planilhas exportadas como pauta oficial de alinhamento.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Alertas Proativos de SLA: </a:t>
            </a:r>
            <a:r>
              <a:rPr sz="900">
                <a:solidFill>
                  <a:srgbClr val="9DB0C7"/>
                </a:solidFill>
                <a:latin typeface="Aptos"/>
              </a:rPr>
              <a:t>Notificação antecipada de demandas prioritárias da corporação.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Priorização de Homologações: </a:t>
            </a:r>
            <a:r>
              <a:rPr sz="900">
                <a:solidFill>
                  <a:srgbClr val="9DB0C7"/>
                </a:solidFill>
                <a:latin typeface="Aptos"/>
              </a:rPr>
              <a:t>Aceleração conjunta do chamado com posse da PMSC.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Módulo de Capacitação N1: </a:t>
            </a:r>
            <a:r>
              <a:rPr sz="900">
                <a:solidFill>
                  <a:srgbClr val="9DB0C7"/>
                </a:solidFill>
                <a:latin typeface="Aptos"/>
              </a:rPr>
              <a:t>Redução de reaberturas por meio de orientações operacionais.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Evolução Contínua Mobile: </a:t>
            </a:r>
            <a:r>
              <a:rPr sz="900">
                <a:solidFill>
                  <a:srgbClr val="9DB0C7"/>
                </a:solidFill>
                <a:latin typeface="Aptos"/>
              </a:rPr>
              <a:t>Acompanhamento em tempo real dos patches de APK de viatura.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2057400"/>
            <a:ext cx="3429000" cy="41605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000" b="1">
                <a:solidFill>
                  <a:srgbClr val="35D0FF"/>
                </a:solidFill>
                <a:latin typeface="Aptos"/>
              </a:rPr>
              <a:t>SÍNTESE DE VALOR PMSC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8FC"/>
                </a:solidFill>
                <a:latin typeface="Aptos Display"/>
              </a:rPr>
              <a:t>Retorno para a Gestão Policial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⚡ VELOCIDADE: </a:t>
            </a:r>
            <a:r>
              <a:rPr sz="900">
                <a:solidFill>
                  <a:srgbClr val="9DB0C7"/>
                </a:solidFill>
                <a:latin typeface="Aptos"/>
              </a:rPr>
              <a:t>Diagnóstico de qualquer chamado em ≤ 3 segundos sem atrito.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🛡️ CONFIANÇA: </a:t>
            </a:r>
            <a:r>
              <a:rPr sz="900">
                <a:solidFill>
                  <a:srgbClr val="9DB0C7"/>
                </a:solidFill>
                <a:latin typeface="Aptos"/>
              </a:rPr>
              <a:t>Apresentação aritmética auditada sem divergência de números.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🤝 PARCERIA: </a:t>
            </a:r>
            <a:r>
              <a:rPr sz="900">
                <a:solidFill>
                  <a:srgbClr val="9DB0C7"/>
                </a:solidFill>
                <a:latin typeface="Aptos"/>
              </a:rPr>
              <a:t>Trabalho em conjunto com foco em destravar homologações da PM.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5F8FC"/>
                </a:solidFill>
                <a:latin typeface="Aptos"/>
              </a:rPr>
              <a:t>• 📈 PREVISIBILIDADE: </a:t>
            </a:r>
            <a:r>
              <a:rPr sz="900">
                <a:solidFill>
                  <a:srgbClr val="9DB0C7"/>
                </a:solidFill>
                <a:latin typeface="Aptos"/>
              </a:rPr>
              <a:t>Acompanhamento transparente das entregas de software.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C8FF4A"/>
                </a:solidFill>
                <a:latin typeface="Aptos"/>
              </a:rPr>
              <a:t>• 🚔 MISSÃO CRÍTICA: </a:t>
            </a:r>
            <a:r>
              <a:rPr sz="900">
                <a:solidFill>
                  <a:srgbClr val="9DB0C7"/>
                </a:solidFill>
                <a:latin typeface="Aptos"/>
              </a:rPr>
              <a:t>Garantia de tecnologia estável para o policial militar na ponta.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19088"/>
            <a:ext cx="10817352" cy="9144"/>
          </a:xfrm>
          <a:prstGeom prst="rect">
            <a:avLst/>
          </a:prstGeom>
          <a:solidFill>
            <a:srgbClr val="2A3E5C"/>
          </a:solidFill>
          <a:ln>
            <a:solidFill>
              <a:srgbClr val="2A3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9DB0C7"/>
                </a:solidFill>
                <a:latin typeface="Aptos"/>
              </a:rPr>
              <a:t>egSYS JIRAVIEW — SANTA CATARINA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649224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1">
                <a:solidFill>
                  <a:srgbClr val="9DB0C7"/>
                </a:solidFill>
                <a:latin typeface="Aptos"/>
              </a:rPr>
              <a:t>POLÍCIA MILITAR DE SANTA CATARINA (PMSC)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