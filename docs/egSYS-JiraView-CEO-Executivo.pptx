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EGSYS ANÁLISE EXECUTIVA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egSYS JIRAVIEW: Transparência, Observabilidade e Escala do Atendimento JSM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Superando o portal legado do Jira: novo painel com gráficos, esteira de 8 etapas, filtros salvos e leitura executiva em ≤ 3s.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0817352" cy="1234440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/>
            <a:r>
              <a:rPr sz="1700" b="1">
                <a:solidFill>
                  <a:srgbClr val="C8FF4A"/>
                </a:solidFill>
                <a:latin typeface="Aptos Display"/>
              </a:rPr>
              <a:t>⚡ VISIBILIDADE EXECUTIVA ≤ 3s   •   📊 OBSERVABILIDADE VISUAL TOTAL   •   🛡️ ESTEIRA COM POSSE DA BOLA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DB0C7"/>
                </a:solidFill>
                <a:latin typeface="Aptos"/>
              </a:rPr>
              <a:t>Substituição completa do portal rígido do Jira: filtros salvos pelo gestor, dashboards gráficos e radiografia profunda de tickets em 1 container único.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10817352" cy="24688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/>
            <a:r>
              <a:rPr sz="1200" b="1">
                <a:solidFill>
                  <a:srgbClr val="35D0FF"/>
                </a:solidFill>
                <a:latin typeface="Aptos"/>
              </a:rPr>
              <a:t>AS GRANDES MELHORIAS FUNCIONAIS FRENTE AO PAINEL LEGADO DO JIRA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Trilha Visual da Jornada (Esteira de 8 Etapas): </a:t>
            </a:r>
            <a:r>
              <a:rPr sz="1050">
                <a:solidFill>
                  <a:srgbClr val="9DB0C7"/>
                </a:solidFill>
                <a:latin typeface="Aptos"/>
              </a:rPr>
              <a:t>Fim do status opaco. O cliente acompanha cada etapa (Triagem ➔ Dev ➔ QA ➔ Homologação), o tempo decorrido em cada fase e a Posse da Bola.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Dashboard Gráfico &amp; Banner de Síntese Matemática: </a:t>
            </a:r>
            <a:r>
              <a:rPr sz="1050">
                <a:solidFill>
                  <a:srgbClr val="9DB0C7"/>
                </a:solidFill>
                <a:latin typeface="Aptos"/>
              </a:rPr>
              <a:t>4 gráficos interativos (status, prioridade, solicitantes e tendência) mais o Banner Executivo com decomposição exata do backlog ativo (25 Ativas / 25 Concluídas).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Construtor Visual de Filtros &amp; Salvamento Personalizado: </a:t>
            </a:r>
            <a:r>
              <a:rPr sz="1050">
                <a:solidFill>
                  <a:srgbClr val="9DB0C7"/>
                </a:solidFill>
                <a:latin typeface="Aptos"/>
              </a:rPr>
              <a:t>Criação de filtros JQL com multiseleção e capacidade de salvar listagens customizadas por gestor (/filtros), inexistente no Jira padrão.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Rastreabilidade Técnica e Exportação (# 1 a N): </a:t>
            </a:r>
            <a:r>
              <a:rPr sz="1050">
                <a:solidFill>
                  <a:srgbClr val="9DB0C7"/>
                </a:solidFill>
                <a:latin typeface="Aptos"/>
              </a:rPr>
              <a:t>Links 1-click para o Jira oficial, mapeamento de tarefas da engenharia (PSC) e exportação em Excel nativo (.xlsx), Markdown e CSV numerados.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B84D"/>
                </a:solidFill>
                <a:latin typeface="Aptos"/>
              </a:rPr>
              <a:t>O PROBLEMA  /  GARGALOS DO PORTAL LEGADO DO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portal nativo do Jira mantinha o cliente cego sobre o fluxo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Sem gráficos, sem esteira de ação, sem filtros salvos e com ambiguidade entre tarefas ativas e entregas passadas.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TRILHA DA JORNADA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Status Estático e Opaco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O cliente via apenas um rótulo cru ('Em Andamento'). Impossível saber em que etapa o chamado estava (N2, Dev ou QA), há quanto tempo estava parado e de quem era a responsabilidade da 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DASHBOARDS OU GRÁFICOS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Ausência Total de Observabilidade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Nenhum gráfico disponível ao cliente no portal padrão. Apenas tabelas em 'planilha pesada' sem visão de funil, sem divisão por criticidade e sem identificação de gargalos.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FILTRAGEM EFETIVA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Zero Personalização para o Cliente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Buscas rudimentares que truncavam em 100 itens. O cliente não conseguia filtrar por frentes de produto, não podia cruzar critérios e era impossível salvar listagens personalizadas.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77639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AMBIGUIDADE CRÔNICA DE DADOS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A Falsa Impressão de Atrasos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O termo genérico 'Abertas' somava itens concluídos há meses com demandas ativas e chamados parados no próprio cliente, gerando atritos desgastantes e cobranças indevidas.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FFB84D"/>
                </a:solidFill>
                <a:latin typeface="Aptos"/>
              </a:rPr>
              <a:t>⚠️ Impacto do Portal Legado: Clientes insatisfeitos sem visibilidade, 90% do tempo perdido em conferências manuais e cobranças injustas à equipe egSYS.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A TRANSFORMAÇÃO  /  ARQUITETURA &amp; RECURSOS DO PAINEL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JiraView entrega a observabilidade visual que o Jira nunca teve.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Todas as camadas de controle reunidas em uma plataforma única, ágil, personalizável e de alto desempenho.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OBSERVABILIDADE VISUAL TOTAL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Dashboards &amp; Gráficos Táticos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Banner Executivo de Backlog: </a:t>
            </a:r>
            <a:r>
              <a:rPr sz="950">
                <a:solidFill>
                  <a:srgbClr val="9DB0C7"/>
                </a:solidFill>
                <a:latin typeface="Aptos"/>
              </a:rPr>
              <a:t>Equação visual no topo eliminando a confusão de números.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Funil de 4 Estágios: </a:t>
            </a:r>
            <a:r>
              <a:rPr sz="950">
                <a:solidFill>
                  <a:srgbClr val="9DB0C7"/>
                </a:solidFill>
                <a:latin typeface="Aptos"/>
              </a:rPr>
              <a:t>Cards semânticos categorizados por componente da esteira.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4 Gráficos Interativos: </a:t>
            </a:r>
            <a:r>
              <a:rPr sz="950">
                <a:solidFill>
                  <a:srgbClr val="9DB0C7"/>
                </a:solidFill>
                <a:latin typeface="Aptos"/>
              </a:rPr>
              <a:t>Barras por status, donut de prioridade, polar e linha temporal.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Modo Escuro Full-Window: </a:t>
            </a:r>
            <a:r>
              <a:rPr sz="950">
                <a:solidFill>
                  <a:srgbClr val="9DB0C7"/>
                </a:solidFill>
                <a:latin typeface="Aptos"/>
              </a:rPr>
              <a:t>Design Dark Glass sem reflexos, ideal para salas de situação.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FILTRAGEM AVANÇADA &amp; SALVA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Construtor JQL &amp; CRUD de Filtros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Filtros Salvos pelo Gestor: </a:t>
            </a:r>
            <a:r>
              <a:rPr sz="950">
                <a:solidFill>
                  <a:srgbClr val="9DB0C7"/>
                </a:solidFill>
                <a:latin typeface="Aptos"/>
              </a:rPr>
              <a:t>Módulo completo (/filtros) para salvar e reusar visões em 1 clique.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Construtor Visual de JQL: </a:t>
            </a:r>
            <a:r>
              <a:rPr sz="950">
                <a:solidFill>
                  <a:srgbClr val="9DB0C7"/>
                </a:solidFill>
                <a:latin typeface="Aptos"/>
              </a:rPr>
              <a:t>Filtre por campo, operador e valor sem saber código Jira.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Filtro por Áreas de Atendimento: </a:t>
            </a:r>
            <a:r>
              <a:rPr sz="950">
                <a:solidFill>
                  <a:srgbClr val="9DB0C7"/>
                </a:solidFill>
                <a:latin typeface="Aptos"/>
              </a:rPr>
              <a:t>Abas automáticas mapeadas por componentes do negócio.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Governança Temporal: </a:t>
            </a:r>
            <a:r>
              <a:rPr sz="950">
                <a:solidFill>
                  <a:srgbClr val="9DB0C7"/>
                </a:solidFill>
                <a:latin typeface="Aptos"/>
              </a:rPr>
              <a:t>Janelas de 60d, 90d, 6m, 12m e ano atual sem truncamento.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A TRILHA DA JORNADA &amp; SRE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Gaveta Lateral (Drawer) &amp; Traefik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Esteira de 8 Etapas: </a:t>
            </a:r>
            <a:r>
              <a:rPr sz="950">
                <a:solidFill>
                  <a:srgbClr val="9DB0C7"/>
                </a:solidFill>
                <a:latin typeface="Aptos"/>
              </a:rPr>
              <a:t>Da Triagem N1 à Homologação do Cliente com Posse da Bola.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Cálculo de Tempo por Fase: </a:t>
            </a:r>
            <a:r>
              <a:rPr sz="950">
                <a:solidFill>
                  <a:srgbClr val="9DB0C7"/>
                </a:solidFill>
                <a:latin typeface="Aptos"/>
              </a:rPr>
              <a:t>Veja quantos dias o ticket passou em cada status real.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1 Container Multi-Estado: </a:t>
            </a:r>
            <a:r>
              <a:rPr sz="950">
                <a:solidFill>
                  <a:srgbClr val="9DB0C7"/>
                </a:solidFill>
                <a:latin typeface="Aptos"/>
              </a:rPr>
              <a:t>Configuração declarativa em YAML e Cgroups (512MB RAM).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Exportação (# 1 a N): </a:t>
            </a:r>
            <a:r>
              <a:rPr sz="950">
                <a:solidFill>
                  <a:srgbClr val="9DB0C7"/>
                </a:solidFill>
                <a:latin typeface="Aptos"/>
              </a:rPr>
              <a:t>Download imediato em Excel (.xlsx), Markdown e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33872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C8FF4A"/>
                </a:solidFill>
                <a:latin typeface="Aptos"/>
              </a:rPr>
              <a:t>🎯 Resultado: O cliente ganha poder de auditoria, filtros sob medida e visualização completa sem depender de analistas da egSYS.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C8FF4A"/>
                </a:solidFill>
                <a:latin typeface="Aptos"/>
              </a:rPr>
              <a:t>IMPACTO MENSURADO  /  RESULTADOS AUDITADOS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salto operacional do cliente: métricas de observabilidade.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Ganhos comprovados em tempo de análise, precisão de backlog e autonomia de filtragem do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≤ 3s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TEMPO PARA LEITURA DE STATUS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De 30 a 60 segundos navegando em listas confusas para menos de 3 segundos com o Banner e Funil.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100%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PRECISÃO NA CONTA DO BACKLOG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Fim das disputas de quantidade: 0 Novas + 24 Em Atendimento + 1 Aguardando Cliente = 25 Ativas (ciclo 90d).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8 Fases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TRILHA COMPLETA DA JORNADA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Cada ticket tem sua esteira exibida com Posse da Bola e dias acumulados em cada estágio.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1-Click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EXPORTAÇÃO &amp; FILTROS SALVOS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Gestor salva suas visões favoritas e baixa planilhas formatadas (#: 1 a N) com apenas um clique.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33872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C8FF4A"/>
                </a:solidFill>
                <a:latin typeface="Aptos"/>
              </a:rPr>
              <a:t>📈 Eficiência Institucional: Eliminação total de reuniões de alinhamento de números; o painel é a fonte soberana da verdade.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AUDITORIA DE INDICADORES  /  METODOLOGIA &amp;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Raio-X das métricas: base de cálculo e evidências operacionais.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Como cada recurso e métrica do JiraView é validado em tempo real contra as bases corporativas.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⚡ DECOMPOSIÇÃO DO BACKLOG ATIVO (25 ATIVAS / 25 CONCLUÍDAS)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Carteira ativa no ciclo contratual de 90 dias.  |  EVIDÊNCIA: 0 em Triagem + 24 em Atendimento Técnico egSYS + 1 Aguardando Validação do Cliente. 25 itens entregues segregados no histórico (total 50).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🎯 TRILHA DA JORNADA &amp; TEMPO ACUMULADO POR FASE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Radiografia profunda do ciclo de vida no endpoint /journey.  |  EVIDÊNCIA: Parser do histórico de transições do Jira Cloud calculando dias e horas exatos de permanência em cada uma das 8 fases.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📊 DASHBOARDS GRÁFICOS &amp; VENDORING LOCAL (204KB)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Renderização gráfica estável em qualquer rede corporativa restrita.  |  EVIDÊNCIA: Chart.js empacotado localmente no backend; gráficos de barras, donut, polar e linha carregam 100%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3776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💾 PERSISTÊNCIA DE FILTROS SALVOS &amp; EXPORTAÇÃO (# 1 A N)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Autonomia de personalização de relatórios pelo próprio gestor.  |  EVIDÊNCIA: Tabela de filtros com permissão 0600 em data/filtros.json e módulo de download em Excel nativo (.xlsx), MD e 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97880"/>
            <a:ext cx="10817352" cy="384048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35D0FF"/>
                </a:solidFill>
                <a:latin typeface="Aptos"/>
              </a:rPr>
              <a:t>🔍 Critério de Rigor Técnico: Dados auditados diretamente no backend FastAPI, deploy/estados.yaml e banco SQLite auth.db.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CATÁLOGO DE MELHORIAS  /  FUNCIONALIDADES DO PAINEL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A jornada na esteira de ação e os recursos de observabilidade.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Todas as ferramentas que o cliente precisava e que o portal padrão do Jira nunca ofereceu.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39512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A TRILHA DO CAMINHO (ESTEIRA DE 8 ETAPAS)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Ciclo de vida transparente com indicação de Posse da Bola: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01. Triagem (N1) ➔ </a:t>
            </a:r>
            <a:r>
              <a:rPr sz="900">
                <a:solidFill>
                  <a:srgbClr val="9DB0C7"/>
                </a:solidFill>
                <a:latin typeface="Aptos"/>
              </a:rPr>
              <a:t>Recepção, qualificação inicial e abertura de chamado.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02. Triagem (N2) ➔ </a:t>
            </a:r>
            <a:r>
              <a:rPr sz="900">
                <a:solidFill>
                  <a:srgbClr val="9DB0C7"/>
                </a:solidFill>
                <a:latin typeface="Aptos"/>
              </a:rPr>
              <a:t>Diagnóstico técnico avançado e reprodução de logs.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03. Análise de Dev ➔ </a:t>
            </a:r>
            <a:r>
              <a:rPr sz="900">
                <a:solidFill>
                  <a:srgbClr val="9DB0C7"/>
                </a:solidFill>
                <a:latin typeface="Aptos"/>
              </a:rPr>
              <a:t>Refinamento arquitetural e desenho de solução técnica.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04. Em Desenvolvimento ➔ </a:t>
            </a:r>
            <a:r>
              <a:rPr sz="900">
                <a:solidFill>
                  <a:srgbClr val="9DB0C7"/>
                </a:solidFill>
                <a:latin typeface="Aptos"/>
              </a:rPr>
              <a:t>Construção de código ativo e testes de unidade.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05. QA &amp; Testes ➔ </a:t>
            </a:r>
            <a:r>
              <a:rPr sz="900">
                <a:solidFill>
                  <a:srgbClr val="9DB0C7"/>
                </a:solidFill>
                <a:latin typeface="Aptos"/>
              </a:rPr>
              <a:t>Homologação técnica e baterias de testes automatizados.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06. Validação Interna N1 ➔ </a:t>
            </a:r>
            <a:r>
              <a:rPr sz="900">
                <a:solidFill>
                  <a:srgbClr val="9DB0C7"/>
                </a:solidFill>
                <a:latin typeface="Aptos"/>
              </a:rPr>
              <a:t>Conferência final pelo analista antes da entrega.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07. Homologação Cliente ➔ </a:t>
            </a:r>
            <a:r>
              <a:rPr sz="900">
                <a:solidFill>
                  <a:srgbClr val="9DB0C7"/>
                </a:solidFill>
                <a:latin typeface="Aptos"/>
              </a:rPr>
              <a:t>AÇÃO DO CLIENTE: Testes em staging e aceite formal.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08. Concluído ➔ </a:t>
            </a:r>
            <a:r>
              <a:rPr sz="900">
                <a:solidFill>
                  <a:srgbClr val="9DB0C7"/>
                </a:solidFill>
                <a:latin typeface="Aptos"/>
              </a:rPr>
              <a:t>FINALIZADO: Liberação em produção e encerramento.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239512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FUNCIONALIDADES EXCLUSIVAS DO JIRAVIEW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Recursos de observabilidade ausentes no portal legado: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Gaveta Lateral de Diagnóstico (Drawer): </a:t>
            </a:r>
            <a:r>
              <a:rPr sz="900">
                <a:solidFill>
                  <a:srgbClr val="9DB0C7"/>
                </a:solidFill>
                <a:latin typeface="Aptos"/>
              </a:rPr>
              <a:t>Abre em 1 clique sem reload, exibindo a esteira, o tempo exato acumulado em cada etapa e a posse da bola.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Módulo de Filtros Salvos pelo Gestor: </a:t>
            </a:r>
            <a:r>
              <a:rPr sz="900">
                <a:solidFill>
                  <a:srgbClr val="9DB0C7"/>
                </a:solidFill>
                <a:latin typeface="Aptos"/>
              </a:rPr>
              <a:t>Permite criar filtros personalizados e salvá-los no perfil (/filtros) para reuso diário com um clique.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Dashboard com 4 Gráficos Interativos: </a:t>
            </a:r>
            <a:r>
              <a:rPr sz="900">
                <a:solidFill>
                  <a:srgbClr val="9DB0C7"/>
                </a:solidFill>
                <a:latin typeface="Aptos"/>
              </a:rPr>
              <a:t>Gráficos Chart.js (status, prioridade, solicitantes e linha temporal) atualizados em tempo real.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Rastreabilidade de Engenharia (issuelinks): </a:t>
            </a:r>
            <a:r>
              <a:rPr sz="900">
                <a:solidFill>
                  <a:srgbClr val="9DB0C7"/>
                </a:solidFill>
                <a:latin typeface="Aptos"/>
              </a:rPr>
              <a:t>Vínculo visual direto com tarefas de desenvolvimento (PSC) ligadas ao chamado de atendimento.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Exportação Corporativa (# 1 a N): </a:t>
            </a:r>
            <a:r>
              <a:rPr sz="900">
                <a:solidFill>
                  <a:srgbClr val="9DB0C7"/>
                </a:solidFill>
                <a:latin typeface="Aptos"/>
              </a:rPr>
              <a:t>Download imediato em Excel (.xlsx), Markdown e CSV com índice sequencial (#) para pautas de reunião.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ESCALA MULTI-ESTADO  /  CONFIGURAÇÃO DECLARATIVA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modelo multi-estado: expansão nacional sem custo de infra.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Um único produto atende múltiplos clientes públicos mantendo isolamento absoluto de dados e permissões.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6858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JIRAVIEW CORE — NÚCLEO INTELIGENTE MULTI-ESTADO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Topologia declarativa onde o estado é escopo lógico de dados: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C8FF4A"/>
                </a:solidFill>
                <a:latin typeface="Aptos"/>
              </a:rPr>
              <a:t>🟢 Santa Catarina (PMSC)
</a:t>
            </a:r>
            <a:r>
              <a:rPr sz="900">
                <a:solidFill>
                  <a:srgbClr val="9DB0C7"/>
                </a:solidFill>
                <a:latin typeface="Aptos"/>
              </a:rPr>
              <a:t>Projeto HDPMSC • Gestores João Mário, Ilclemar, Alex e Cap Thiesen • 4 áreas (Cidadão, SADE, Integração, Operações).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C8FF4A"/>
                </a:solidFill>
                <a:latin typeface="Aptos"/>
              </a:rPr>
              <a:t>🟢 Tocantins (PMTO)
</a:t>
            </a:r>
            <a:r>
              <a:rPr sz="900">
                <a:solidFill>
                  <a:srgbClr val="9DB0C7"/>
                </a:solidFill>
                <a:latin typeface="Aptos"/>
              </a:rPr>
              <a:t>Projeto HDPMTO • Configurado e pronto para ativação declarativa sem novas instâncias.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C8FF4A"/>
                </a:solidFill>
                <a:latin typeface="Aptos"/>
              </a:rPr>
              <a:t>🟢 Amazonas (PMAM) &amp; Rondônia (PMRO)
</a:t>
            </a:r>
            <a:r>
              <a:rPr sz="900">
                <a:solidFill>
                  <a:srgbClr val="9DB0C7"/>
                </a:solidFill>
                <a:latin typeface="Aptos"/>
              </a:rPr>
              <a:t>Projetos HDSUPAM e HDRO • Suporte operacional mapeado para atendimento integrado.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C8FF4A"/>
                </a:solidFill>
                <a:latin typeface="Aptos"/>
              </a:rPr>
              <a:t>🟢 Paraná (PMPR) &amp; Guardas Municipais
</a:t>
            </a:r>
            <a:r>
              <a:rPr sz="900">
                <a:solidFill>
                  <a:srgbClr val="9DB0C7"/>
                </a:solidFill>
                <a:latin typeface="Aptos"/>
              </a:rPr>
              <a:t>Projetos HDPMPR e HDGM • Expansão para suporte municipal e metropolitano.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C8FF4A"/>
                </a:solidFill>
                <a:latin typeface="Aptos"/>
              </a:rPr>
              <a:t>🟢 Coordenação de Suporte Geral
</a:t>
            </a:r>
            <a:r>
              <a:rPr sz="900">
                <a:solidFill>
                  <a:srgbClr val="9DB0C7"/>
                </a:solidFill>
                <a:latin typeface="Aptos"/>
              </a:rPr>
              <a:t>Visão panorâmica dos 73 espaços Jira com busca universal e gestão de usuários.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057400"/>
            <a:ext cx="3685032" cy="19659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3200" b="1">
                <a:solidFill>
                  <a:srgbClr val="C8FF4A"/>
                </a:solidFill>
                <a:latin typeface="Aptos Display"/>
              </a:rPr>
              <a:t>&lt; 15 min</a:t>
            </a:r>
          </a:p>
          <a:p>
            <a:r>
              <a:rPr sz="1000" b="1">
                <a:solidFill>
                  <a:srgbClr val="35D0FF"/>
                </a:solidFill>
                <a:latin typeface="Aptos"/>
              </a:rPr>
              <a:t>ONBOARDING DE NOVO ESTADO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DB0C7"/>
                </a:solidFill>
                <a:latin typeface="Aptos"/>
              </a:rPr>
              <a:t>Basta incluir um bloco no deploy/estados.yaml e cadastrar os gestores no painel administrativo. Sem novos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251960"/>
            <a:ext cx="3685032" cy="19659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3200" b="1">
                <a:solidFill>
                  <a:srgbClr val="C8FF4A"/>
                </a:solidFill>
                <a:latin typeface="Aptos Display"/>
              </a:rPr>
              <a:t>512 MB</a:t>
            </a:r>
          </a:p>
          <a:p>
            <a:r>
              <a:rPr sz="1000" b="1">
                <a:solidFill>
                  <a:srgbClr val="35D0FF"/>
                </a:solidFill>
                <a:latin typeface="Aptos"/>
              </a:rPr>
              <a:t>CONTENÇÃO MÁXIMA CGROUPS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DB0C7"/>
                </a:solidFill>
                <a:latin typeface="Aptos"/>
              </a:rPr>
              <a:t>Consumo ultra-leve com 1.0 CPU e 150 PIDs de limite. Zero impacto no servidor de monitoramento e zero vazamento de recursos.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EVOLUÇÃO CONTÍNUA  /  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JiraView consolida o padrão executivo de transparência.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Da eliminação de atritos de atendimento à gestão inteligente orientada a evidências e dados reais.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ENTREGUE EM 2026 (v0.4.1)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Operação Consolidada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Banner de Síntese Matemática: </a:t>
            </a:r>
            <a:r>
              <a:rPr sz="900">
                <a:solidFill>
                  <a:srgbClr val="9DB0C7"/>
                </a:solidFill>
                <a:latin typeface="Aptos"/>
              </a:rPr>
              <a:t>Decomposição exata com 25 tarefas abertas e 25 concluídas (ciclo 90d).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Esteira Canônica de 8 Etapas: </a:t>
            </a:r>
            <a:r>
              <a:rPr sz="900">
                <a:solidFill>
                  <a:srgbClr val="9DB0C7"/>
                </a:solidFill>
                <a:latin typeface="Aptos"/>
              </a:rPr>
              <a:t>Trilha visual da jornada e indicação de Posse da Bola.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Dashboards &amp; Gráficos Táticos: </a:t>
            </a:r>
            <a:r>
              <a:rPr sz="900">
                <a:solidFill>
                  <a:srgbClr val="9DB0C7"/>
                </a:solidFill>
                <a:latin typeface="Aptos"/>
              </a:rPr>
              <a:t>4 visões visuais integradas para o cliente.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Filtros Salvos pelo Gestor: </a:t>
            </a:r>
            <a:r>
              <a:rPr sz="900">
                <a:solidFill>
                  <a:srgbClr val="9DB0C7"/>
                </a:solidFill>
                <a:latin typeface="Aptos"/>
              </a:rPr>
              <a:t>Módulo CRUD (/filtros) para salvar visões favoritas.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Exportação Corporativa (# 1 a N): </a:t>
            </a:r>
            <a:r>
              <a:rPr sz="900">
                <a:solidFill>
                  <a:srgbClr val="9DB0C7"/>
                </a:solidFill>
                <a:latin typeface="Aptos"/>
              </a:rPr>
              <a:t>Planilhas Excel (.xlsx), Markdown e CSV com índice.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ROADMAP 2026 / 2027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Próximas Inovações (v0.5 / v1.0)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Ativação TO, AM e RO: </a:t>
            </a:r>
            <a:r>
              <a:rPr sz="900">
                <a:solidFill>
                  <a:srgbClr val="9DB0C7"/>
                </a:solidFill>
                <a:latin typeface="Aptos"/>
              </a:rPr>
              <a:t>Expansão dos novos estados via configuração declarativa.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Alertas Proativos de SLA: </a:t>
            </a:r>
            <a:r>
              <a:rPr sz="900">
                <a:solidFill>
                  <a:srgbClr val="9DB0C7"/>
                </a:solidFill>
                <a:latin typeface="Aptos"/>
              </a:rPr>
              <a:t>Webhooks em tempo real notificando chamados em risco.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Auditoria Forense de Acessos: </a:t>
            </a:r>
            <a:r>
              <a:rPr sz="900">
                <a:solidFill>
                  <a:srgbClr val="9DB0C7"/>
                </a:solidFill>
                <a:latin typeface="Aptos"/>
              </a:rPr>
              <a:t>Trilha completa de acessos e ações dos gestores em banco.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Assistente com IA egSYS: </a:t>
            </a:r>
            <a:r>
              <a:rPr sz="900">
                <a:solidFill>
                  <a:srgbClr val="9DB0C7"/>
                </a:solidFill>
                <a:latin typeface="Aptos"/>
              </a:rPr>
              <a:t>Sumarização executiva automática de chamados complexos.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App Mobile Nativo PWA: </a:t>
            </a:r>
            <a:r>
              <a:rPr sz="900">
                <a:solidFill>
                  <a:srgbClr val="9DB0C7"/>
                </a:solidFill>
                <a:latin typeface="Aptos"/>
              </a:rPr>
              <a:t>Acesso ultrarrápido para gestores em tablets e smartphones.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SÍNTESE DE VALOR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Retorno Estratégico para Diretoria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⚡ VELOCIDADE: </a:t>
            </a:r>
            <a:r>
              <a:rPr sz="900">
                <a:solidFill>
                  <a:srgbClr val="9DB0C7"/>
                </a:solidFill>
                <a:latin typeface="Aptos"/>
              </a:rPr>
              <a:t>Diagnóstico executivo de chamados em ≤ 3 segundos sem sobrecarga.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🛡️ CONTROLE: </a:t>
            </a:r>
            <a:r>
              <a:rPr sz="900">
                <a:solidFill>
                  <a:srgbClr val="9DB0C7"/>
                </a:solidFill>
                <a:latin typeface="Aptos"/>
              </a:rPr>
              <a:t>Isolamento RBAC por estado, Cgroups 512MB e filtros salvos.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🤝 CONFIANÇA: </a:t>
            </a:r>
            <a:r>
              <a:rPr sz="900">
                <a:solidFill>
                  <a:srgbClr val="9DB0C7"/>
                </a:solidFill>
                <a:latin typeface="Aptos"/>
              </a:rPr>
              <a:t>Fim das discussões de backlog ativo através de dados matemáticos.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💰 EFICIÊNCIA: </a:t>
            </a:r>
            <a:r>
              <a:rPr sz="900">
                <a:solidFill>
                  <a:srgbClr val="9DB0C7"/>
                </a:solidFill>
                <a:latin typeface="Aptos"/>
              </a:rPr>
              <a:t>Zero infraestrutura adicional para expansão em novos contratos.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🏛️ SOBERANIA: </a:t>
            </a:r>
            <a:r>
              <a:rPr sz="900">
                <a:solidFill>
                  <a:srgbClr val="9DB0C7"/>
                </a:solidFill>
                <a:latin typeface="Aptos"/>
              </a:rPr>
              <a:t>Tecnologia própria egSYS, auditável e independente de licenças terceiras.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PAINEL DO CLIENTE JSM / INTELIGÊNCIA OPERACIONAL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